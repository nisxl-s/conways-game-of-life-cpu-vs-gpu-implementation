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3" r:id="rId11"/>
    <p:sldId id="264" r:id="rId12"/>
    <p:sldId id="268" r:id="rId13"/>
    <p:sldId id="269" r:id="rId14"/>
    <p:sldId id="265" r:id="rId15"/>
  </p:sldIdLst>
  <p:sldSz cx="12192000" cy="6858000"/>
  <p:notesSz cx="6858000" cy="12192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Manrope" panose="020B0604020202020204" charset="0"/>
      <p:regular r:id="rId21"/>
    </p:embeddedFont>
    <p:embeddedFont>
      <p:font typeface="Manrope Bold" panose="020B0604020202020204" charset="0"/>
      <p:regular r:id="rId22"/>
    </p:embeddedFont>
    <p:embeddedFont>
      <p:font typeface="Manrope SemiBold" panose="020B0604020202020204" charset="0"/>
      <p:regular r:id="rId23"/>
    </p:embeddedFont>
    <p:embeddedFont>
      <p:font typeface="Space Grotesk 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5297-43C2-43BA-B943-70416D8D6DE8}" v="153" dt="2026-10-12T17:02:01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AL SANJAYA" userId="f77bcb43de3b4771" providerId="LiveId" clId="{FD4A13A8-5E0E-412D-B8BB-0CFCCB5B6413}"/>
    <pc:docChg chg="undo custSel addSld delSld modSld modMainMaster modNotesMaster">
      <pc:chgData name="NISAL SANJAYA" userId="f77bcb43de3b4771" providerId="LiveId" clId="{FD4A13A8-5E0E-412D-B8BB-0CFCCB5B6413}" dt="2026-10-12T17:13:34.980" v="234" actId="478"/>
      <pc:docMkLst>
        <pc:docMk/>
      </pc:docMkLst>
      <pc:sldChg chg="addSp delSp modSp add del mod modClrScheme modAnim chgLayout">
        <pc:chgData name="NISAL SANJAYA" userId="f77bcb43de3b4771" providerId="LiveId" clId="{FD4A13A8-5E0E-412D-B8BB-0CFCCB5B6413}" dt="2026-10-12T17:08:18.890" v="232" actId="26606"/>
        <pc:sldMkLst>
          <pc:docMk/>
          <pc:sldMk cId="0" sldId="256"/>
        </pc:sldMkLst>
        <pc:spChg chg="mod">
          <ac:chgData name="NISAL SANJAYA" userId="f77bcb43de3b4771" providerId="LiveId" clId="{FD4A13A8-5E0E-412D-B8BB-0CFCCB5B6413}" dt="2026-10-12T16:11:41.860" v="10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11:41.860" v="10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18:44.966" v="206" actId="1076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NISAL SANJAYA" userId="f77bcb43de3b4771" providerId="LiveId" clId="{FD4A13A8-5E0E-412D-B8BB-0CFCCB5B6413}" dt="2026-10-12T16:11:18.965" v="102" actId="1076"/>
          <ac:spMkLst>
            <pc:docMk/>
            <pc:sldMk cId="0" sldId="256"/>
            <ac:spMk id="9" creationId="{3109F778-3535-67B5-7470-08295F009B93}"/>
          </ac:spMkLst>
        </pc:spChg>
        <pc:picChg chg="add mod">
          <ac:chgData name="NISAL SANJAYA" userId="f77bcb43de3b4771" providerId="LiveId" clId="{FD4A13A8-5E0E-412D-B8BB-0CFCCB5B6413}" dt="2026-10-12T16:10:00.012" v="19" actId="1076"/>
          <ac:picMkLst>
            <pc:docMk/>
            <pc:sldMk cId="0" sldId="256"/>
            <ac:picMk id="8" creationId="{2124482D-1214-CFBC-867A-6E5E51859F92}"/>
          </ac:picMkLst>
        </pc:picChg>
        <pc:picChg chg="add del mod">
          <ac:chgData name="NISAL SANJAYA" userId="f77bcb43de3b4771" providerId="LiveId" clId="{FD4A13A8-5E0E-412D-B8BB-0CFCCB5B6413}" dt="2026-10-12T16:36:09.840" v="208" actId="478"/>
          <ac:picMkLst>
            <pc:docMk/>
            <pc:sldMk cId="0" sldId="256"/>
            <ac:picMk id="10" creationId="{870411D4-7C44-D27B-5308-E65E38AAFF23}"/>
          </ac:picMkLst>
        </pc:picChg>
      </pc:sldChg>
      <pc:sldChg chg="modSp add del mod modClrScheme chgLayout">
        <pc:chgData name="NISAL SANJAYA" userId="f77bcb43de3b4771" providerId="LiveId" clId="{FD4A13A8-5E0E-412D-B8BB-0CFCCB5B6413}" dt="2026-10-12T15:59:30.574" v="11" actId="26606"/>
        <pc:sldMkLst>
          <pc:docMk/>
          <pc:sldMk cId="0" sldId="257"/>
        </pc:sldMkLst>
        <pc:picChg chg="mod">
          <ac:chgData name="NISAL SANJAYA" userId="f77bcb43de3b4771" providerId="LiveId" clId="{FD4A13A8-5E0E-412D-B8BB-0CFCCB5B6413}" dt="2026-10-11T22:08:53.925" v="6" actId="26606"/>
          <ac:picMkLst>
            <pc:docMk/>
            <pc:sldMk cId="0" sldId="257"/>
            <ac:picMk id="7" creationId="{00000000-0000-0000-0000-000000000000}"/>
          </ac:picMkLst>
        </pc:picChg>
      </pc:sldChg>
      <pc:sldChg chg="add del mod modClrScheme chgLayout">
        <pc:chgData name="NISAL SANJAYA" userId="f77bcb43de3b4771" providerId="LiveId" clId="{FD4A13A8-5E0E-412D-B8BB-0CFCCB5B6413}" dt="2026-10-12T15:59:30.574" v="11" actId="26606"/>
        <pc:sldMkLst>
          <pc:docMk/>
          <pc:sldMk cId="0" sldId="258"/>
        </pc:sldMkLst>
      </pc:sldChg>
      <pc:sldChg chg="modSp add del mod modClrScheme chgLayout">
        <pc:chgData name="NISAL SANJAYA" userId="f77bcb43de3b4771" providerId="LiveId" clId="{FD4A13A8-5E0E-412D-B8BB-0CFCCB5B6413}" dt="2026-10-12T16:44:57.716" v="210" actId="26606"/>
        <pc:sldMkLst>
          <pc:docMk/>
          <pc:sldMk cId="0" sldId="259"/>
        </pc:sldMkLst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59"/>
            <ac:spMk id="4" creationId="{00000000-0000-0000-0000-000000000000}"/>
          </ac:spMkLst>
        </pc:spChg>
      </pc:sldChg>
      <pc:sldChg chg="add del mod modClrScheme chgLayout">
        <pc:chgData name="NISAL SANJAYA" userId="f77bcb43de3b4771" providerId="LiveId" clId="{FD4A13A8-5E0E-412D-B8BB-0CFCCB5B6413}" dt="2026-10-12T15:59:30.574" v="11" actId="26606"/>
        <pc:sldMkLst>
          <pc:docMk/>
          <pc:sldMk cId="0" sldId="260"/>
        </pc:sldMkLst>
      </pc:sldChg>
      <pc:sldChg chg="addSp delSp modSp add del mod modClrScheme chgLayout">
        <pc:chgData name="NISAL SANJAYA" userId="f77bcb43de3b4771" providerId="LiveId" clId="{FD4A13A8-5E0E-412D-B8BB-0CFCCB5B6413}" dt="2026-10-12T17:13:34.980" v="234" actId="478"/>
        <pc:sldMkLst>
          <pc:docMk/>
          <pc:sldMk cId="0" sldId="261"/>
        </pc:sldMkLst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1"/>
            <ac:spMk id="5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1"/>
            <ac:spMk id="6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1"/>
            <ac:spMk id="7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1"/>
            <ac:spMk id="8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1"/>
            <ac:spMk id="9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1"/>
            <ac:spMk id="11" creationId="{00000000-0000-0000-0000-000000000000}"/>
          </ac:spMkLst>
        </pc:spChg>
        <pc:spChg chg="add del">
          <ac:chgData name="NISAL SANJAYA" userId="f77bcb43de3b4771" providerId="LiveId" clId="{FD4A13A8-5E0E-412D-B8BB-0CFCCB5B6413}" dt="2026-10-12T17:13:34.980" v="234" actId="478"/>
          <ac:spMkLst>
            <pc:docMk/>
            <pc:sldMk cId="0" sldId="261"/>
            <ac:spMk id="14" creationId="{00000000-0000-0000-0000-000000000000}"/>
          </ac:spMkLst>
        </pc:spChg>
        <pc:spChg chg="add del mod">
          <ac:chgData name="NISAL SANJAYA" userId="f77bcb43de3b4771" providerId="LiveId" clId="{FD4A13A8-5E0E-412D-B8BB-0CFCCB5B6413}" dt="2026-10-12T17:04:19.525" v="223"/>
          <ac:spMkLst>
            <pc:docMk/>
            <pc:sldMk cId="0" sldId="261"/>
            <ac:spMk id="41" creationId="{00000000-0000-0000-0000-000000000000}"/>
          </ac:spMkLst>
        </pc:spChg>
        <pc:picChg chg="add mod">
          <ac:chgData name="NISAL SANJAYA" userId="f77bcb43de3b4771" providerId="LiveId" clId="{FD4A13A8-5E0E-412D-B8BB-0CFCCB5B6413}" dt="2026-10-12T17:04:18.817" v="221" actId="1076"/>
          <ac:picMkLst>
            <pc:docMk/>
            <pc:sldMk cId="0" sldId="261"/>
            <ac:picMk id="15" creationId="{8DD08C29-8C1E-790D-BD47-3FB3D0F70663}"/>
          </ac:picMkLst>
        </pc:picChg>
      </pc:sldChg>
      <pc:sldChg chg="addSp delSp modSp add del mod modClrScheme chgLayout">
        <pc:chgData name="NISAL SANJAYA" userId="f77bcb43de3b4771" providerId="LiveId" clId="{FD4A13A8-5E0E-412D-B8BB-0CFCCB5B6413}" dt="2026-10-12T17:13:30.706" v="233" actId="478"/>
        <pc:sldMkLst>
          <pc:docMk/>
          <pc:sldMk cId="0" sldId="262"/>
        </pc:sldMkLst>
        <pc:spChg chg="add del">
          <ac:chgData name="NISAL SANJAYA" userId="f77bcb43de3b4771" providerId="LiveId" clId="{FD4A13A8-5E0E-412D-B8BB-0CFCCB5B6413}" dt="2026-10-12T17:13:30.706" v="233" actId="478"/>
          <ac:spMkLst>
            <pc:docMk/>
            <pc:sldMk cId="0" sldId="262"/>
            <ac:spMk id="10" creationId="{00000000-0000-0000-0000-000000000000}"/>
          </ac:spMkLst>
        </pc:spChg>
        <pc:spChg chg="add del mod">
          <ac:chgData name="NISAL SANJAYA" userId="f77bcb43de3b4771" providerId="LiveId" clId="{FD4A13A8-5E0E-412D-B8BB-0CFCCB5B6413}" dt="2026-10-11T22:08:10.792" v="4"/>
          <ac:spMkLst>
            <pc:docMk/>
            <pc:sldMk cId="0" sldId="262"/>
            <ac:spMk id="10" creationId="{441F606F-F558-B1F1-E195-6213BAFDA189}"/>
          </ac:spMkLst>
        </pc:spChg>
        <pc:spChg chg="add del mod">
          <ac:chgData name="NISAL SANJAYA" userId="f77bcb43de3b4771" providerId="LiveId" clId="{FD4A13A8-5E0E-412D-B8BB-0CFCCB5B6413}" dt="2026-10-12T17:04:29.731" v="228"/>
          <ac:spMkLst>
            <pc:docMk/>
            <pc:sldMk cId="0" sldId="262"/>
            <ac:spMk id="29" creationId="{00000000-0000-0000-0000-000000000000}"/>
          </ac:spMkLst>
        </pc:spChg>
        <pc:spChg chg="add">
          <ac:chgData name="NISAL SANJAYA" userId="f77bcb43de3b4771" providerId="LiveId" clId="{FD4A13A8-5E0E-412D-B8BB-0CFCCB5B6413}" dt="2026-10-12T16:44:57.716" v="210" actId="26606"/>
          <ac:spMkLst>
            <pc:docMk/>
            <pc:sldMk cId="0" sldId="262"/>
            <ac:spMk id="30" creationId="{00000000-0000-0000-0000-000000000000}"/>
          </ac:spMkLst>
        </pc:spChg>
        <pc:graphicFrameChg chg="mod modGraphic">
          <ac:chgData name="NISAL SANJAYA" userId="f77bcb43de3b4771" providerId="LiveId" clId="{FD4A13A8-5E0E-412D-B8BB-0CFCCB5B6413}" dt="2026-10-12T16:44:57.716" v="210" actId="26606"/>
          <ac:graphicFrameMkLst>
            <pc:docMk/>
            <pc:sldMk cId="0" sldId="262"/>
            <ac:graphicFrameMk id="8" creationId="{00000000-0000-0000-0000-000000000000}"/>
          </ac:graphicFrameMkLst>
        </pc:graphicFrameChg>
        <pc:picChg chg="add mod">
          <ac:chgData name="NISAL SANJAYA" userId="f77bcb43de3b4771" providerId="LiveId" clId="{FD4A13A8-5E0E-412D-B8BB-0CFCCB5B6413}" dt="2026-10-12T17:04:29.192" v="226" actId="1076"/>
          <ac:picMkLst>
            <pc:docMk/>
            <pc:sldMk cId="0" sldId="262"/>
            <ac:picMk id="11" creationId="{3CE61BA7-5103-BF89-3B98-9B6A9044D316}"/>
          </ac:picMkLst>
        </pc:picChg>
      </pc:sldChg>
      <pc:sldChg chg="addSp modSp add del mod modClrScheme chgLayout">
        <pc:chgData name="NISAL SANJAYA" userId="f77bcb43de3b4771" providerId="LiveId" clId="{FD4A13A8-5E0E-412D-B8BB-0CFCCB5B6413}" dt="2026-10-12T17:08:18.890" v="232" actId="26606"/>
        <pc:sldMkLst>
          <pc:docMk/>
          <pc:sldMk cId="0" sldId="263"/>
        </pc:sldMkLst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3"/>
            <ac:spMk id="4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3"/>
            <ac:spMk id="5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3"/>
            <ac:spMk id="6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3"/>
            <ac:spMk id="7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3"/>
            <ac:spMk id="8" creationId="{00000000-0000-0000-0000-000000000000}"/>
          </ac:spMkLst>
        </pc:spChg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3"/>
            <ac:spMk id="9" creationId="{00000000-0000-0000-0000-000000000000}"/>
          </ac:spMkLst>
        </pc:spChg>
        <pc:picChg chg="add mod">
          <ac:chgData name="NISAL SANJAYA" userId="f77bcb43de3b4771" providerId="LiveId" clId="{FD4A13A8-5E0E-412D-B8BB-0CFCCB5B6413}" dt="2026-10-12T17:04:35.306" v="230" actId="1076"/>
          <ac:picMkLst>
            <pc:docMk/>
            <pc:sldMk cId="0" sldId="263"/>
            <ac:picMk id="32" creationId="{00000000-0000-0000-0000-000000000000}"/>
          </ac:picMkLst>
        </pc:picChg>
      </pc:sldChg>
      <pc:sldChg chg="modSp add del mod modClrScheme chgLayout">
        <pc:chgData name="NISAL SANJAYA" userId="f77bcb43de3b4771" providerId="LiveId" clId="{FD4A13A8-5E0E-412D-B8BB-0CFCCB5B6413}" dt="2026-10-12T17:08:18.890" v="232" actId="26606"/>
        <pc:sldMkLst>
          <pc:docMk/>
          <pc:sldMk cId="0" sldId="264"/>
        </pc:sldMkLst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4"/>
            <ac:spMk id="6" creationId="{00000000-0000-0000-0000-000000000000}"/>
          </ac:spMkLst>
        </pc:spChg>
      </pc:sldChg>
      <pc:sldChg chg="modSp add del mod modClrScheme chgLayout">
        <pc:chgData name="NISAL SANJAYA" userId="f77bcb43de3b4771" providerId="LiveId" clId="{FD4A13A8-5E0E-412D-B8BB-0CFCCB5B6413}" dt="2026-10-12T16:44:57.716" v="210" actId="26606"/>
        <pc:sldMkLst>
          <pc:docMk/>
          <pc:sldMk cId="0" sldId="265"/>
        </pc:sldMkLst>
        <pc:spChg chg="mod">
          <ac:chgData name="NISAL SANJAYA" userId="f77bcb43de3b4771" providerId="LiveId" clId="{FD4A13A8-5E0E-412D-B8BB-0CFCCB5B6413}" dt="2026-10-12T16:06:44.060" v="12" actId="20577"/>
          <ac:spMkLst>
            <pc:docMk/>
            <pc:sldMk cId="0" sldId="265"/>
            <ac:spMk id="9" creationId="{00000000-0000-0000-0000-000000000000}"/>
          </ac:spMkLst>
        </pc:spChg>
      </pc:sldChg>
      <pc:sldChg chg="modSp add mod">
        <pc:chgData name="NISAL SANJAYA" userId="f77bcb43de3b4771" providerId="LiveId" clId="{FD4A13A8-5E0E-412D-B8BB-0CFCCB5B6413}" dt="2026-10-12T16:44:57.716" v="210" actId="26606"/>
        <pc:sldMkLst>
          <pc:docMk/>
          <pc:sldMk cId="0" sldId="266"/>
        </pc:sldMkLst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6"/>
            <ac:spMk id="4" creationId="{00000000-0000-0000-0000-000000000000}"/>
          </ac:spMkLst>
        </pc:spChg>
      </pc:sldChg>
      <pc:sldChg chg="modSp add mod">
        <pc:chgData name="NISAL SANJAYA" userId="f77bcb43de3b4771" providerId="LiveId" clId="{FD4A13A8-5E0E-412D-B8BB-0CFCCB5B6413}" dt="2026-10-12T16:44:57.716" v="210" actId="26606"/>
        <pc:sldMkLst>
          <pc:docMk/>
          <pc:sldMk cId="0" sldId="267"/>
        </pc:sldMkLst>
        <pc:spChg chg="mod">
          <ac:chgData name="NISAL SANJAYA" userId="f77bcb43de3b4771" providerId="LiveId" clId="{FD4A13A8-5E0E-412D-B8BB-0CFCCB5B6413}" dt="2026-10-12T16:44:57.716" v="210" actId="26606"/>
          <ac:spMkLst>
            <pc:docMk/>
            <pc:sldMk cId="0" sldId="267"/>
            <ac:spMk id="4" creationId="{00000000-0000-0000-0000-000000000000}"/>
          </ac:spMkLst>
        </pc:spChg>
      </pc:sldChg>
      <pc:sldChg chg="add">
        <pc:chgData name="NISAL SANJAYA" userId="f77bcb43de3b4771" providerId="LiveId" clId="{FD4A13A8-5E0E-412D-B8BB-0CFCCB5B6413}" dt="2026-10-12T16:44:57.716" v="210" actId="26606"/>
        <pc:sldMkLst>
          <pc:docMk/>
          <pc:sldMk cId="0" sldId="268"/>
        </pc:sldMkLst>
      </pc:sldChg>
      <pc:sldChg chg="add">
        <pc:chgData name="NISAL SANJAYA" userId="f77bcb43de3b4771" providerId="LiveId" clId="{FD4A13A8-5E0E-412D-B8BB-0CFCCB5B6413}" dt="2026-10-12T16:44:57.716" v="210" actId="26606"/>
        <pc:sldMkLst>
          <pc:docMk/>
          <pc:sldMk cId="0" sldId="269"/>
        </pc:sldMkLst>
      </pc:sldChg>
      <pc:sldMasterChg chg="addSldLayout delSldLayout modSldLayout">
        <pc:chgData name="NISAL SANJAYA" userId="f77bcb43de3b4771" providerId="LiveId" clId="{FD4A13A8-5E0E-412D-B8BB-0CFCCB5B6413}" dt="2026-10-11T22:08:53.925" v="6" actId="26606"/>
        <pc:sldMasterMkLst>
          <pc:docMk/>
          <pc:sldMasterMk cId="0" sldId="2147483648"/>
        </pc:sldMasterMkLst>
        <pc:sldLayoutChg chg="add">
          <pc:chgData name="NISAL SANJAYA" userId="f77bcb43de3b4771" providerId="LiveId" clId="{FD4A13A8-5E0E-412D-B8BB-0CFCCB5B6413}" dt="2026-10-11T22:08:53.925" v="6" actId="26606"/>
          <pc:sldLayoutMkLst>
            <pc:docMk/>
            <pc:sldMasterMk cId="0" sldId="2147483648"/>
            <pc:sldLayoutMk cId="0" sldId="2147483650"/>
          </pc:sldLayoutMkLst>
        </pc:sldLayoutChg>
        <pc:sldLayoutChg chg="del replId">
          <pc:chgData name="NISAL SANJAYA" userId="f77bcb43de3b4771" providerId="LiveId" clId="{FD4A13A8-5E0E-412D-B8BB-0CFCCB5B6413}" dt="2026-10-11T22:08:53.925" v="6" actId="2660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89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735012"/>
            <a:ext cx="2011610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585" y="2569024"/>
            <a:ext cx="6095848" cy="1152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Conway's Game of Life: CPU vs GPU</a:t>
            </a:r>
            <a:endParaRPr lang="en-US" sz="4200"/>
          </a:p>
        </p:txBody>
      </p:sp>
      <p:sp>
        <p:nvSpPr>
          <p:cNvPr id="4" name="Text 2"/>
          <p:cNvSpPr/>
          <p:nvPr/>
        </p:nvSpPr>
        <p:spPr>
          <a:xfrm>
            <a:off x="609585" y="3848470"/>
            <a:ext cx="6095848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00">
                <a:solidFill>
                  <a:srgbClr val="0B1B3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Sequential CPU vs. Parallel CUDA GPU Implementation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609585" y="5271095"/>
            <a:ext cx="6095848" cy="977305"/>
          </a:xfrm>
          <a:prstGeom prst="rect">
            <a:avLst/>
          </a:prstGeom>
          <a:solidFill>
            <a:srgbClr val="E9F0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43" y="5356860"/>
            <a:ext cx="5763789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b="1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CCS3032 - High-Perfor</a:t>
            </a:r>
            <a:r>
              <a:rPr lang="en-US" sz="16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</a:t>
            </a:r>
            <a:r>
              <a:rPr lang="en-US" sz="1600" b="1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ance Co</a:t>
            </a:r>
            <a:r>
              <a:rPr lang="en-US" sz="16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</a:t>
            </a:r>
            <a:r>
              <a:rPr lang="en-US" sz="1600" b="1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puting</a:t>
            </a:r>
          </a:p>
          <a:p>
            <a:pPr>
              <a:lnSpc>
                <a:spcPct val="107000"/>
              </a:lnSpc>
            </a:pPr>
            <a:r>
              <a:rPr lang="en-US" sz="1600" b="1" err="1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B.Co</a:t>
            </a:r>
            <a:r>
              <a:rPr lang="en-US" sz="1600" err="1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</a:t>
            </a:r>
            <a:r>
              <a:rPr lang="en-US" sz="1600" b="1" err="1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</a:t>
            </a:r>
            <a:r>
              <a:rPr lang="en-US" sz="1600" b="1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(Hons.) in Computer Science</a:t>
            </a:r>
          </a:p>
          <a:p>
            <a:pPr>
              <a:lnSpc>
                <a:spcPct val="120000"/>
              </a:lnSpc>
            </a:pPr>
            <a:endParaRPr lang="en-US" sz="1600" b="1">
              <a:solidFill>
                <a:srgbClr val="26364A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6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Y.R. Nisal Sanjaya | Index - FC221050 | Reg – FC116340</a:t>
            </a:r>
          </a:p>
          <a:p>
            <a:pPr>
              <a:lnSpc>
                <a:spcPct val="120000"/>
              </a:lnSpc>
            </a:pPr>
            <a:r>
              <a:rPr lang="en-US" sz="1600" err="1">
                <a:latin typeface="Manrope" panose="020B0604020202020204" charset="0"/>
              </a:rPr>
              <a:t>M.D.S.H.Edirisinghe</a:t>
            </a:r>
            <a:r>
              <a:rPr lang="en-US" sz="1600">
                <a:latin typeface="Manrope" panose="020B0604020202020204" charset="0"/>
              </a:rPr>
              <a:t> | Index - FC221012 | Reg - FC115262 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8" name="Picture 7" descr="usjp-logo - USJ - University of Sri Jayewardenepura, Sri Lanka">
            <a:extLst>
              <a:ext uri="{FF2B5EF4-FFF2-40B4-BE49-F238E27FC236}">
                <a16:creationId xmlns:a16="http://schemas.microsoft.com/office/drawing/2014/main" id="{2124482D-1214-CFBC-867A-6E5E51859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963231"/>
            <a:ext cx="935436" cy="935436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3109F778-3535-67B5-7470-08295F009B93}"/>
              </a:ext>
            </a:extLst>
          </p:cNvPr>
          <p:cNvSpPr/>
          <p:nvPr/>
        </p:nvSpPr>
        <p:spPr>
          <a:xfrm>
            <a:off x="1730996" y="1191101"/>
            <a:ext cx="4175818" cy="714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Faculty of Computing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 sz="2600" b="1">
                <a:solidFill>
                  <a:srgbClr val="0B1B3A"/>
                </a:solidFill>
                <a:latin typeface="Space Grotesk Bold" pitchFamily="34" charset="0"/>
                <a:cs typeface="Space Grotesk Bold" pitchFamily="34" charset="-120"/>
              </a:rPr>
              <a:t>University of Sri Jayewardenepura</a:t>
            </a:r>
            <a:endParaRPr lang="en-US" sz="2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decel="5000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5000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5000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5000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· Problem &amp; objectives</a:t>
            </a:r>
            <a:endParaRPr lang="en-US" sz="290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585" y="1585119"/>
            <a:ext cx="5257668" cy="4663281"/>
          </a:xfrm>
          <a:prstGeom prst="roundRect">
            <a:avLst>
              <a:gd name="adj" fmla="val 245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179" y="3095026"/>
            <a:ext cx="4800480" cy="7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cell updates from its </a:t>
            </a:r>
            <a:r>
              <a:rPr lang="en-US" sz="2400" b="1">
                <a:solidFill>
                  <a:srgbClr val="26364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8 neighbours</a:t>
            </a:r>
            <a:r>
              <a:rPr lang="en-US" sz="2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each generation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38179" y="3967357"/>
            <a:ext cx="4800480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2048 × 2048 grid × 100 generations = </a:t>
            </a:r>
            <a:r>
              <a:rPr lang="en-US" sz="2300" i="1">
                <a:solidFill>
                  <a:srgbClr val="26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</a:t>
            </a:r>
            <a:r>
              <a:rPr lang="en-US" sz="2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work</a:t>
            </a:r>
            <a:endParaRPr lang="en-US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535" y="4385171"/>
            <a:ext cx="1267074" cy="3700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24442" y="1585119"/>
            <a:ext cx="5257668" cy="4663281"/>
          </a:xfrm>
          <a:prstGeom prst="roundRect">
            <a:avLst>
              <a:gd name="adj" fmla="val 1471"/>
            </a:avLst>
          </a:prstGeom>
          <a:solidFill>
            <a:srgbClr val="E9F0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24442" y="1585119"/>
            <a:ext cx="6350" cy="466328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83188" y="3110786"/>
            <a:ext cx="494652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one-thread CPU execution with one-thread-per-cell CUDA execution</a:t>
            </a:r>
            <a:endParaRPr lang="en-US" sz="2000"/>
          </a:p>
        </p:txBody>
      </p:sp>
      <p:sp>
        <p:nvSpPr>
          <p:cNvPr id="11" name="Shape 8"/>
          <p:cNvSpPr/>
          <p:nvPr/>
        </p:nvSpPr>
        <p:spPr>
          <a:xfrm>
            <a:off x="6483188" y="3900884"/>
            <a:ext cx="4946427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83188" y="4100592"/>
            <a:ext cx="494652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 the seed, density, rules, and final state identical</a:t>
            </a:r>
            <a:endParaRPr lang="en-US" sz="2000"/>
          </a:p>
        </p:txBody>
      </p:sp>
      <p:sp>
        <p:nvSpPr>
          <p:cNvPr id="13" name="Text 10"/>
          <p:cNvSpPr/>
          <p:nvPr/>
        </p:nvSpPr>
        <p:spPr>
          <a:xfrm>
            <a:off x="11480711" y="6528296"/>
            <a:ext cx="710984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· Experimental setup</a:t>
            </a:r>
            <a:endParaRPr lang="en-US" sz="290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585" y="1585119"/>
            <a:ext cx="5333867" cy="1237456"/>
          </a:xfrm>
          <a:prstGeom prst="roundRect">
            <a:avLst>
              <a:gd name="adj" fmla="val 924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179" y="1830483"/>
            <a:ext cx="4876678" cy="7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Grid: 2048 × 2048 = </a:t>
            </a:r>
            <a:r>
              <a:rPr lang="en-US" sz="2400" b="1">
                <a:solidFill>
                  <a:srgbClr val="26364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4,194,304 cells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6248244" y="1585119"/>
            <a:ext cx="5333867" cy="1237456"/>
          </a:xfrm>
          <a:prstGeom prst="roundRect">
            <a:avLst>
              <a:gd name="adj" fmla="val 924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76838" y="1830483"/>
            <a:ext cx="4876678" cy="7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Initial state: about 30% alive = </a:t>
            </a:r>
            <a:r>
              <a:rPr lang="en-US" sz="2400" b="1">
                <a:solidFill>
                  <a:srgbClr val="26364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1,259,237 cells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609585" y="2962275"/>
            <a:ext cx="5333867" cy="2516584"/>
          </a:xfrm>
          <a:prstGeom prst="rect">
            <a:avLst/>
          </a:prstGeom>
          <a:noFill/>
          <a:ln w="1270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879" y="3909497"/>
            <a:ext cx="485127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CPU: Intel Xeon @ 2.00 GHz · 4 logical CPUs · 1 thread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6248244" y="2962275"/>
            <a:ext cx="5333867" cy="2516584"/>
          </a:xfrm>
          <a:prstGeom prst="rect">
            <a:avLst/>
          </a:prstGeom>
          <a:noFill/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89538" y="3909497"/>
            <a:ext cx="485127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GPU: Tesla T4 · compute capability 7.5 · 40 multiprocessors · CUDA 12.8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609585" y="5632529"/>
            <a:ext cx="10972526" cy="629841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warm-up run, then 5 timed runs; mean and range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11483787" y="6528296"/>
            <a:ext cx="707908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!!cpu-step-object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pu-step-object-2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· CPU implementation</a:t>
            </a:r>
            <a:endParaRPr lang="en-US" sz="2900"/>
          </a:p>
        </p:txBody>
      </p:sp>
      <p:sp>
        <p:nvSpPr>
          <p:cNvPr id="3" name="!!cpu-step-object-3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!!cpu-step-object-4"/>
          <p:cNvSpPr/>
          <p:nvPr/>
        </p:nvSpPr>
        <p:spPr>
          <a:xfrm>
            <a:off x="609904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 with 2D arrays · </a:t>
            </a:r>
            <a:r>
              <a:rPr lang="en-US" sz="1800">
                <a:solidFill>
                  <a:srgbClr val="26364A"/>
                </a:solidFill>
                <a:highlight>
                  <a:srgbClr val="E9F0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gcc -O2 -falign-loops=64</a:t>
            </a:r>
            <a:r>
              <a:rPr lang="en-US" sz="18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noinline step function, restrict pointers</a:t>
            </a:r>
            <a:endParaRPr lang="en-US" sz="2000"/>
          </a:p>
        </p:txBody>
      </p:sp>
      <p:sp>
        <p:nvSpPr>
          <p:cNvPr id="5" name="!!cpu-step-object-5"/>
          <p:cNvSpPr/>
          <p:nvPr/>
        </p:nvSpPr>
        <p:spPr>
          <a:xfrm>
            <a:off x="534149" y="1972706"/>
            <a:ext cx="3503588" cy="3583305"/>
          </a:xfrm>
          <a:prstGeom prst="rect">
            <a:avLst/>
          </a:prstGeom>
          <a:solidFill>
            <a:srgbClr val="14284A"/>
          </a:solidFill>
          <a:ln w="25400">
            <a:solidFill>
              <a:srgbClr val="00BD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!!cpu-step-object-6"/>
          <p:cNvSpPr/>
          <p:nvPr/>
        </p:nvSpPr>
        <p:spPr>
          <a:xfrm>
            <a:off x="838179" y="2278459"/>
            <a:ext cx="87985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01</a:t>
            </a:r>
            <a:endParaRPr lang="en-US" sz="2000"/>
          </a:p>
        </p:txBody>
      </p:sp>
      <p:sp>
        <p:nvSpPr>
          <p:cNvPr id="7" name="!!cpu-step-object-7"/>
          <p:cNvSpPr/>
          <p:nvPr/>
        </p:nvSpPr>
        <p:spPr>
          <a:xfrm>
            <a:off x="838179" y="2634059"/>
            <a:ext cx="2895528" cy="19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!!cpu-step-object-8"/>
          <p:cNvSpPr/>
          <p:nvPr/>
        </p:nvSpPr>
        <p:spPr>
          <a:xfrm>
            <a:off x="838179" y="3716814"/>
            <a:ext cx="289552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Nested loops update one cell after another</a:t>
            </a:r>
            <a:endParaRPr lang="en-US" sz="2000"/>
          </a:p>
        </p:txBody>
      </p:sp>
      <p:sp>
        <p:nvSpPr>
          <p:cNvPr id="9" name="!!cpu-step-object-9"/>
          <p:cNvSpPr/>
          <p:nvPr/>
        </p:nvSpPr>
        <p:spPr>
          <a:xfrm>
            <a:off x="4478162" y="2109866"/>
            <a:ext cx="3235371" cy="3308985"/>
          </a:xfrm>
          <a:prstGeom prst="rect">
            <a:avLst/>
          </a:prstGeom>
          <a:solidFill>
            <a:srgbClr val="172036"/>
          </a:solidFill>
          <a:ln w="0">
            <a:solidFill>
              <a:srgbClr val="17203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!!cpu-step-object-10"/>
          <p:cNvSpPr/>
          <p:nvPr/>
        </p:nvSpPr>
        <p:spPr>
          <a:xfrm>
            <a:off x="4648084" y="2278459"/>
            <a:ext cx="9218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2000"/>
          </a:p>
        </p:txBody>
      </p:sp>
      <p:sp>
        <p:nvSpPr>
          <p:cNvPr id="11" name="!!cpu-step-object-11"/>
          <p:cNvSpPr/>
          <p:nvPr/>
        </p:nvSpPr>
        <p:spPr>
          <a:xfrm>
            <a:off x="4648084" y="2634059"/>
            <a:ext cx="2895528" cy="19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!!cpu-step-object-12"/>
          <p:cNvSpPr/>
          <p:nvPr/>
        </p:nvSpPr>
        <p:spPr>
          <a:xfrm>
            <a:off x="4648084" y="3554294"/>
            <a:ext cx="289552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buffers are swapped after each generation</a:t>
            </a:r>
            <a:endParaRPr lang="en-US" sz="2000"/>
          </a:p>
        </p:txBody>
      </p:sp>
      <p:sp>
        <p:nvSpPr>
          <p:cNvPr id="13" name="!!cpu-step-object-13"/>
          <p:cNvSpPr/>
          <p:nvPr/>
        </p:nvSpPr>
        <p:spPr>
          <a:xfrm>
            <a:off x="8288067" y="2109866"/>
            <a:ext cx="3235371" cy="3308985"/>
          </a:xfrm>
          <a:prstGeom prst="rect">
            <a:avLst/>
          </a:prstGeom>
          <a:solidFill>
            <a:srgbClr val="172036"/>
          </a:solidFill>
          <a:ln w="0">
            <a:solidFill>
              <a:srgbClr val="17203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!!cpu-step-object-14"/>
          <p:cNvSpPr/>
          <p:nvPr/>
        </p:nvSpPr>
        <p:spPr>
          <a:xfrm>
            <a:off x="8457988" y="2278459"/>
            <a:ext cx="91794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2000"/>
          </a:p>
        </p:txBody>
      </p:sp>
      <p:sp>
        <p:nvSpPr>
          <p:cNvPr id="15" name="!!cpu-step-object-15"/>
          <p:cNvSpPr/>
          <p:nvPr/>
        </p:nvSpPr>
        <p:spPr>
          <a:xfrm>
            <a:off x="8457988" y="2634059"/>
            <a:ext cx="2895528" cy="19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!!cpu-step-object-16"/>
          <p:cNvSpPr/>
          <p:nvPr/>
        </p:nvSpPr>
        <p:spPr>
          <a:xfrm>
            <a:off x="8457988" y="3554294"/>
            <a:ext cx="289552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Wrap-around neighbours preserve the toroidal grid</a:t>
            </a:r>
            <a:endParaRPr lang="en-US" sz="2000"/>
          </a:p>
        </p:txBody>
      </p:sp>
      <p:sp>
        <p:nvSpPr>
          <p:cNvPr id="17" name="!!cpu-step-object-17"/>
          <p:cNvSpPr/>
          <p:nvPr/>
        </p:nvSpPr>
        <p:spPr>
          <a:xfrm>
            <a:off x="609585" y="5632529"/>
            <a:ext cx="10972526" cy="629841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Execution model: sequential · one thread · no device transfer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11477239" y="6528296"/>
            <a:ext cx="714456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!!cpu-step-object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pu-step-object-2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· CPU implementation</a:t>
            </a:r>
            <a:endParaRPr lang="en-US" sz="2900"/>
          </a:p>
        </p:txBody>
      </p:sp>
      <p:sp>
        <p:nvSpPr>
          <p:cNvPr id="3" name="!!cpu-step-object-3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!!cpu-step-object-4"/>
          <p:cNvSpPr/>
          <p:nvPr/>
        </p:nvSpPr>
        <p:spPr>
          <a:xfrm>
            <a:off x="609904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 with 2D arrays · </a:t>
            </a:r>
            <a:r>
              <a:rPr lang="en-US" sz="1800">
                <a:solidFill>
                  <a:srgbClr val="26364A"/>
                </a:solidFill>
                <a:highlight>
                  <a:srgbClr val="E9F0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gcc -O2 -falign-loops=64</a:t>
            </a:r>
            <a:r>
              <a:rPr lang="en-US" sz="18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noinline step function, restrict pointers</a:t>
            </a:r>
            <a:endParaRPr lang="en-US" sz="2000"/>
          </a:p>
        </p:txBody>
      </p:sp>
      <p:sp>
        <p:nvSpPr>
          <p:cNvPr id="5" name="!!cpu-step-object-5"/>
          <p:cNvSpPr/>
          <p:nvPr/>
        </p:nvSpPr>
        <p:spPr>
          <a:xfrm>
            <a:off x="668258" y="2109866"/>
            <a:ext cx="3235371" cy="3308985"/>
          </a:xfrm>
          <a:prstGeom prst="rect">
            <a:avLst/>
          </a:prstGeom>
          <a:solidFill>
            <a:srgbClr val="172036"/>
          </a:solidFill>
          <a:ln w="0">
            <a:solidFill>
              <a:srgbClr val="17203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!!cpu-step-object-6"/>
          <p:cNvSpPr/>
          <p:nvPr/>
        </p:nvSpPr>
        <p:spPr>
          <a:xfrm>
            <a:off x="838179" y="2278459"/>
            <a:ext cx="87985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01</a:t>
            </a:r>
            <a:endParaRPr lang="en-US" sz="2000"/>
          </a:p>
        </p:txBody>
      </p:sp>
      <p:sp>
        <p:nvSpPr>
          <p:cNvPr id="7" name="!!cpu-step-object-7"/>
          <p:cNvSpPr/>
          <p:nvPr/>
        </p:nvSpPr>
        <p:spPr>
          <a:xfrm>
            <a:off x="838179" y="2634059"/>
            <a:ext cx="2895528" cy="19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!!cpu-step-object-8"/>
          <p:cNvSpPr/>
          <p:nvPr/>
        </p:nvSpPr>
        <p:spPr>
          <a:xfrm>
            <a:off x="838179" y="3716814"/>
            <a:ext cx="289552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Nested loops update one cell after another</a:t>
            </a:r>
            <a:endParaRPr lang="en-US" sz="2000"/>
          </a:p>
        </p:txBody>
      </p:sp>
      <p:sp>
        <p:nvSpPr>
          <p:cNvPr id="9" name="!!cpu-step-object-9"/>
          <p:cNvSpPr/>
          <p:nvPr/>
        </p:nvSpPr>
        <p:spPr>
          <a:xfrm>
            <a:off x="4344053" y="1972706"/>
            <a:ext cx="3503588" cy="3583305"/>
          </a:xfrm>
          <a:prstGeom prst="rect">
            <a:avLst/>
          </a:prstGeom>
          <a:solidFill>
            <a:srgbClr val="14284A"/>
          </a:solidFill>
          <a:ln w="25400">
            <a:solidFill>
              <a:srgbClr val="00BD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!!cpu-step-object-10"/>
          <p:cNvSpPr/>
          <p:nvPr/>
        </p:nvSpPr>
        <p:spPr>
          <a:xfrm>
            <a:off x="4648084" y="2278459"/>
            <a:ext cx="9218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2000"/>
          </a:p>
        </p:txBody>
      </p:sp>
      <p:sp>
        <p:nvSpPr>
          <p:cNvPr id="11" name="!!cpu-step-object-11"/>
          <p:cNvSpPr/>
          <p:nvPr/>
        </p:nvSpPr>
        <p:spPr>
          <a:xfrm>
            <a:off x="4648084" y="2634059"/>
            <a:ext cx="2895528" cy="19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!!cpu-step-object-12"/>
          <p:cNvSpPr/>
          <p:nvPr/>
        </p:nvSpPr>
        <p:spPr>
          <a:xfrm>
            <a:off x="4648084" y="3554294"/>
            <a:ext cx="289552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buffers are swapped after each generation</a:t>
            </a:r>
            <a:endParaRPr lang="en-US" sz="2000"/>
          </a:p>
        </p:txBody>
      </p:sp>
      <p:sp>
        <p:nvSpPr>
          <p:cNvPr id="13" name="!!cpu-step-object-13"/>
          <p:cNvSpPr/>
          <p:nvPr/>
        </p:nvSpPr>
        <p:spPr>
          <a:xfrm>
            <a:off x="8288067" y="2109866"/>
            <a:ext cx="3235371" cy="3308985"/>
          </a:xfrm>
          <a:prstGeom prst="rect">
            <a:avLst/>
          </a:prstGeom>
          <a:solidFill>
            <a:srgbClr val="172036"/>
          </a:solidFill>
          <a:ln w="0">
            <a:solidFill>
              <a:srgbClr val="17203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!!cpu-step-object-14"/>
          <p:cNvSpPr/>
          <p:nvPr/>
        </p:nvSpPr>
        <p:spPr>
          <a:xfrm>
            <a:off x="8457988" y="2278459"/>
            <a:ext cx="91794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2000"/>
          </a:p>
        </p:txBody>
      </p:sp>
      <p:sp>
        <p:nvSpPr>
          <p:cNvPr id="15" name="!!cpu-step-object-15"/>
          <p:cNvSpPr/>
          <p:nvPr/>
        </p:nvSpPr>
        <p:spPr>
          <a:xfrm>
            <a:off x="8457988" y="2634059"/>
            <a:ext cx="2895528" cy="19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!!cpu-step-object-16"/>
          <p:cNvSpPr/>
          <p:nvPr/>
        </p:nvSpPr>
        <p:spPr>
          <a:xfrm>
            <a:off x="8457988" y="3554294"/>
            <a:ext cx="289552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Wrap-around neighbours preserve the toroidal grid</a:t>
            </a:r>
            <a:endParaRPr lang="en-US" sz="2000"/>
          </a:p>
        </p:txBody>
      </p:sp>
      <p:sp>
        <p:nvSpPr>
          <p:cNvPr id="17" name="!!cpu-step-object-17"/>
          <p:cNvSpPr/>
          <p:nvPr/>
        </p:nvSpPr>
        <p:spPr>
          <a:xfrm>
            <a:off x="609585" y="5632529"/>
            <a:ext cx="10972526" cy="629841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Execution model: sequential · one thread · no device transfer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11477239" y="6528296"/>
            <a:ext cx="714456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!!cpu-step-object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pu-step-object-2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· CPU implementation</a:t>
            </a:r>
            <a:endParaRPr lang="en-US" sz="2900"/>
          </a:p>
        </p:txBody>
      </p:sp>
      <p:sp>
        <p:nvSpPr>
          <p:cNvPr id="3" name="!!cpu-step-object-3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!!cpu-step-object-4"/>
          <p:cNvSpPr/>
          <p:nvPr/>
        </p:nvSpPr>
        <p:spPr>
          <a:xfrm>
            <a:off x="609904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 with 2D arrays · </a:t>
            </a:r>
            <a:r>
              <a:rPr lang="en-US" sz="1800">
                <a:solidFill>
                  <a:srgbClr val="26364A"/>
                </a:solidFill>
                <a:highlight>
                  <a:srgbClr val="E9F0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gcc -O2 -falign-loops=64</a:t>
            </a:r>
            <a:r>
              <a:rPr lang="en-US" sz="18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noinline step function, restrict pointers</a:t>
            </a:r>
            <a:endParaRPr lang="en-US" sz="2000"/>
          </a:p>
        </p:txBody>
      </p:sp>
      <p:sp>
        <p:nvSpPr>
          <p:cNvPr id="5" name="!!cpu-step-object-5"/>
          <p:cNvSpPr/>
          <p:nvPr/>
        </p:nvSpPr>
        <p:spPr>
          <a:xfrm>
            <a:off x="668258" y="2109866"/>
            <a:ext cx="3235371" cy="3308985"/>
          </a:xfrm>
          <a:prstGeom prst="rect">
            <a:avLst/>
          </a:prstGeom>
          <a:solidFill>
            <a:srgbClr val="172036"/>
          </a:solidFill>
          <a:ln w="0">
            <a:solidFill>
              <a:srgbClr val="17203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!!cpu-step-object-6"/>
          <p:cNvSpPr/>
          <p:nvPr/>
        </p:nvSpPr>
        <p:spPr>
          <a:xfrm>
            <a:off x="838179" y="2278459"/>
            <a:ext cx="87985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01</a:t>
            </a:r>
            <a:endParaRPr lang="en-US" sz="2000"/>
          </a:p>
        </p:txBody>
      </p:sp>
      <p:sp>
        <p:nvSpPr>
          <p:cNvPr id="7" name="!!cpu-step-object-7"/>
          <p:cNvSpPr/>
          <p:nvPr/>
        </p:nvSpPr>
        <p:spPr>
          <a:xfrm>
            <a:off x="838179" y="2634059"/>
            <a:ext cx="2895528" cy="19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!!cpu-step-object-8"/>
          <p:cNvSpPr/>
          <p:nvPr/>
        </p:nvSpPr>
        <p:spPr>
          <a:xfrm>
            <a:off x="838179" y="3716814"/>
            <a:ext cx="289552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Nested loops update one cell after another</a:t>
            </a:r>
            <a:endParaRPr lang="en-US" sz="2000"/>
          </a:p>
        </p:txBody>
      </p:sp>
      <p:sp>
        <p:nvSpPr>
          <p:cNvPr id="9" name="!!cpu-step-object-9"/>
          <p:cNvSpPr/>
          <p:nvPr/>
        </p:nvSpPr>
        <p:spPr>
          <a:xfrm>
            <a:off x="4478162" y="2109866"/>
            <a:ext cx="3235371" cy="3308985"/>
          </a:xfrm>
          <a:prstGeom prst="rect">
            <a:avLst/>
          </a:prstGeom>
          <a:solidFill>
            <a:srgbClr val="172036"/>
          </a:solidFill>
          <a:ln w="0">
            <a:solidFill>
              <a:srgbClr val="17203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!!cpu-step-object-10"/>
          <p:cNvSpPr/>
          <p:nvPr/>
        </p:nvSpPr>
        <p:spPr>
          <a:xfrm>
            <a:off x="4648084" y="2278459"/>
            <a:ext cx="9218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2000"/>
          </a:p>
        </p:txBody>
      </p:sp>
      <p:sp>
        <p:nvSpPr>
          <p:cNvPr id="11" name="!!cpu-step-object-11"/>
          <p:cNvSpPr/>
          <p:nvPr/>
        </p:nvSpPr>
        <p:spPr>
          <a:xfrm>
            <a:off x="4648084" y="2634059"/>
            <a:ext cx="2895528" cy="19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!!cpu-step-object-12"/>
          <p:cNvSpPr/>
          <p:nvPr/>
        </p:nvSpPr>
        <p:spPr>
          <a:xfrm>
            <a:off x="4648084" y="3554294"/>
            <a:ext cx="289552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BCC6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buffers are swapped after each generation</a:t>
            </a:r>
            <a:endParaRPr lang="en-US" sz="2000"/>
          </a:p>
        </p:txBody>
      </p:sp>
      <p:sp>
        <p:nvSpPr>
          <p:cNvPr id="13" name="!!cpu-step-object-13"/>
          <p:cNvSpPr/>
          <p:nvPr/>
        </p:nvSpPr>
        <p:spPr>
          <a:xfrm>
            <a:off x="8153958" y="1972706"/>
            <a:ext cx="3503588" cy="3583305"/>
          </a:xfrm>
          <a:prstGeom prst="rect">
            <a:avLst/>
          </a:prstGeom>
          <a:solidFill>
            <a:srgbClr val="14284A"/>
          </a:solidFill>
          <a:ln w="25400">
            <a:solidFill>
              <a:srgbClr val="00BD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!!cpu-step-object-14"/>
          <p:cNvSpPr/>
          <p:nvPr/>
        </p:nvSpPr>
        <p:spPr>
          <a:xfrm>
            <a:off x="8457988" y="2278459"/>
            <a:ext cx="91794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2000"/>
          </a:p>
        </p:txBody>
      </p:sp>
      <p:sp>
        <p:nvSpPr>
          <p:cNvPr id="15" name="!!cpu-step-object-15"/>
          <p:cNvSpPr/>
          <p:nvPr/>
        </p:nvSpPr>
        <p:spPr>
          <a:xfrm>
            <a:off x="8457988" y="2634059"/>
            <a:ext cx="2895528" cy="190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!!cpu-step-object-16"/>
          <p:cNvSpPr/>
          <p:nvPr/>
        </p:nvSpPr>
        <p:spPr>
          <a:xfrm>
            <a:off x="8457988" y="3554294"/>
            <a:ext cx="289552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Wrap-around neighbours preserve the toroidal grid</a:t>
            </a:r>
            <a:endParaRPr lang="en-US" sz="2000"/>
          </a:p>
        </p:txBody>
      </p:sp>
      <p:sp>
        <p:nvSpPr>
          <p:cNvPr id="17" name="!!cpu-step-object-17"/>
          <p:cNvSpPr/>
          <p:nvPr/>
        </p:nvSpPr>
        <p:spPr>
          <a:xfrm>
            <a:off x="609585" y="5632529"/>
            <a:ext cx="10972526" cy="629841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Execution model: sequential · one thread · no device transfer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11477239" y="6528296"/>
            <a:ext cx="714456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 · CUDA implementation</a:t>
            </a:r>
            <a:endParaRPr lang="en-US" sz="290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585" y="1585119"/>
            <a:ext cx="5257668" cy="3893741"/>
          </a:xfrm>
          <a:prstGeom prst="rect">
            <a:avLst/>
          </a:prstGeom>
          <a:solidFill>
            <a:srgbClr val="2F54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179" y="2650228"/>
            <a:ext cx="5029074" cy="390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40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GPU thread per cell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838179" y="3177580"/>
            <a:ext cx="4800480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8179" y="3363317"/>
            <a:ext cx="4800480" cy="1067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× 16 blocks = 256 threads; 128 × 128 blocks</a:t>
            </a:r>
            <a:endParaRPr lang="en-US" sz="200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4,194,304 threads cover the full grid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6324442" y="1585119"/>
            <a:ext cx="5257668" cy="3893741"/>
          </a:xfrm>
          <a:prstGeom prst="roundRect">
            <a:avLst>
              <a:gd name="adj" fmla="val 294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53036" y="3058398"/>
            <a:ext cx="480048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Naive kernel reads global memory; tiled kernel stages an 18 × 18 tile in shared memory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609585" y="5632529"/>
            <a:ext cx="10972526" cy="629841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grid stays on the GPU for all 100 generations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11479421" y="6528296"/>
            <a:ext cx="712274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 · Correctness first</a:t>
            </a:r>
            <a:endParaRPr lang="en-US" sz="290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904" y="1585569"/>
            <a:ext cx="3703320" cy="896112"/>
          </a:xfrm>
          <a:prstGeom prst="roundRect">
            <a:avLst>
              <a:gd name="adj" fmla="val 637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713585"/>
            <a:ext cx="33101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>
                <a:solidFill>
                  <a:srgbClr val="26364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401,781</a:t>
            </a: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live cells after 100 generations on both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609904" y="2609697"/>
            <a:ext cx="3703320" cy="658368"/>
          </a:xfrm>
          <a:prstGeom prst="roundRect">
            <a:avLst>
              <a:gd name="adj" fmla="val 637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2737713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500" b="1">
                <a:solidFill>
                  <a:srgbClr val="26364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</a:t>
            </a:r>
            <a:r>
              <a:rPr lang="en-US" sz="25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cells differ</a:t>
            </a:r>
            <a:endParaRPr lang="en-US" sz="4000"/>
          </a:p>
        </p:txBody>
      </p:sp>
      <p:sp>
        <p:nvSpPr>
          <p:cNvPr id="8" name="Shape 6"/>
          <p:cNvSpPr/>
          <p:nvPr/>
        </p:nvSpPr>
        <p:spPr>
          <a:xfrm>
            <a:off x="609904" y="3396081"/>
            <a:ext cx="3703320" cy="704088"/>
          </a:xfrm>
          <a:prstGeom prst="rect">
            <a:avLst/>
          </a:prstGeom>
          <a:noFill/>
          <a:ln w="1270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3524097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Identical SHA-256 hash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609904" y="4225442"/>
            <a:ext cx="3703320" cy="1252728"/>
          </a:xfrm>
          <a:prstGeom prst="rect">
            <a:avLst/>
          </a:prstGeom>
          <a:noFill/>
          <a:ln w="1270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4353458"/>
            <a:ext cx="3310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51 of 51 animation frames identical byte for byte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609585" y="5632529"/>
            <a:ext cx="10972526" cy="629841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simulation. Different execution model.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11471782" y="6528296"/>
            <a:ext cx="71991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1400"/>
          </a:p>
        </p:txBody>
      </p:sp>
      <p:pic>
        <p:nvPicPr>
          <p:cNvPr id="15" name="CPU and GPU grids at generation 100" descr="CPU and GPU grids at generation 100" title="CPU and GPU grids at generation 100">
            <a:extLst>
              <a:ext uri="{FF2B5EF4-FFF2-40B4-BE49-F238E27FC236}">
                <a16:creationId xmlns:a16="http://schemas.microsoft.com/office/drawing/2014/main" id="{8DD08C29-8C1E-790D-BD47-3FB3D0F706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46858" y="1740507"/>
            <a:ext cx="6705794" cy="362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06 · The result: 99.9× faster on the kernel</a:t>
            </a:r>
            <a:endParaRPr lang="en-US" sz="290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585" y="1585119"/>
            <a:ext cx="5333867" cy="1028105"/>
          </a:xfrm>
          <a:prstGeom prst="rect">
            <a:avLst/>
          </a:prstGeom>
          <a:solidFill>
            <a:srgbClr val="0A1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3578" y="1861471"/>
            <a:ext cx="5079873" cy="520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99.9×</a:t>
            </a:r>
            <a:r>
              <a:rPr lang="en-US" sz="320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kernel speedup ·</a:t>
            </a:r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6248244" y="1585119"/>
            <a:ext cx="5333867" cy="1028105"/>
          </a:xfrm>
          <a:prstGeom prst="rect">
            <a:avLst/>
          </a:prstGeom>
          <a:solidFill>
            <a:srgbClr val="0A1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02237" y="1861471"/>
            <a:ext cx="5079873" cy="520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80.1×</a:t>
            </a:r>
            <a:r>
              <a:rPr lang="en-US" sz="320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including copies</a:t>
            </a:r>
            <a:endParaRPr lang="en-US" sz="32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214078"/>
              </p:ext>
            </p:extLst>
          </p:nvPr>
        </p:nvGraphicFramePr>
        <p:xfrm>
          <a:off x="609904" y="2944368"/>
          <a:ext cx="5760720" cy="2286000"/>
        </p:xfrm>
        <a:graphic>
          <a:graphicData uri="http://schemas.openxmlformats.org/drawingml/2006/table">
            <a:tbl>
              <a:tblPr/>
              <a:tblGrid>
                <a:gridCol w="1499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Version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Kernel (ms)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Total (ms)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Speedup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1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CPU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1894.3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1894.3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1.0×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2F549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CUDA naive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18.971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23.642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99.9× / 80.1×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CUDA tiled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23.437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28.155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>
                          <a:solidFill>
                            <a:srgbClr val="26364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80.8× / 67.3×</a:t>
                      </a:r>
                      <a:endParaRPr lang="en-US" sz="200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82296" marR="82296" marT="100584" marB="100584" anchor="ctr">
                    <a:lnL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E1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492816" y="6528296"/>
            <a:ext cx="698879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1400"/>
          </a:p>
        </p:txBody>
      </p:sp>
      <p:sp>
        <p:nvSpPr>
          <p:cNvPr id="30" name="TextBox 29"/>
          <p:cNvSpPr txBox="1"/>
          <p:nvPr/>
        </p:nvSpPr>
        <p:spPr>
          <a:xfrm>
            <a:off x="609904" y="5440680"/>
            <a:ext cx="57607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26364A"/>
                </a:solidFill>
                <a:latin typeface="Manrope"/>
              </a:rPr>
              <a:t>Kernel = the 100 kernel launches only. Total = kernel + copy to GPU + copy back. Mean of 5 timed runs after 1 warm-up (CPU range 1826.6-1940.0 ms).</a:t>
            </a:r>
          </a:p>
        </p:txBody>
      </p:sp>
      <p:pic>
        <p:nvPicPr>
          <p:cNvPr id="11" name="Execution time chart" descr="Execution time chart" title="Execution time chart">
            <a:extLst>
              <a:ext uri="{FF2B5EF4-FFF2-40B4-BE49-F238E27FC236}">
                <a16:creationId xmlns:a16="http://schemas.microsoft.com/office/drawing/2014/main" id="{3CE61BA7-5103-BF89-3B98-9B6A9044D3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85330" y="3004375"/>
            <a:ext cx="4286250" cy="2943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07 · Where the GPU time goes</a:t>
            </a:r>
            <a:endParaRPr lang="en-US" sz="290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904" y="1585569"/>
            <a:ext cx="3886200" cy="3893515"/>
          </a:xfrm>
          <a:prstGeom prst="roundRect">
            <a:avLst>
              <a:gd name="adj" fmla="val 294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504" y="184708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5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Copying to and from the GPU takes about </a:t>
            </a:r>
            <a:r>
              <a:rPr lang="en-US" sz="2500" b="1">
                <a:solidFill>
                  <a:srgbClr val="26364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4.7 ms</a:t>
            </a:r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838504" y="3291840"/>
            <a:ext cx="3429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Copies are </a:t>
            </a:r>
            <a:r>
              <a:rPr lang="en-US" sz="2000" b="1">
                <a:solidFill>
                  <a:srgbClr val="26364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20%</a:t>
            </a: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naive total time and </a:t>
            </a:r>
            <a:r>
              <a:rPr lang="en-US" sz="2000" b="1">
                <a:solidFill>
                  <a:srgbClr val="26364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17%</a:t>
            </a: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tiled total time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838504" y="4462272"/>
            <a:ext cx="3429000" cy="22860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8504" y="46634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They are paid once for all 100 generations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609585" y="5632529"/>
            <a:ext cx="10972526" cy="629841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Keeping the grid on the GPU avoids copying every generation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11478826" y="6528296"/>
            <a:ext cx="712869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400"/>
          </a:p>
        </p:txBody>
      </p:sp>
      <p:pic>
        <p:nvPicPr>
          <p:cNvPr id="32" name="Picture 31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638" y="1585569"/>
            <a:ext cx="5287744" cy="3893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08 · The optimisation surprise</a:t>
            </a:r>
            <a:endParaRPr lang="en-US" sz="290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585" y="1599089"/>
            <a:ext cx="1158211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Tiled kernel: 23.437 ms · naive kernel: 18.971 ms</a:t>
            </a:r>
            <a:endParaRPr lang="en-US" sz="2000"/>
          </a:p>
        </p:txBody>
      </p:sp>
      <p:pic>
        <p:nvPicPr>
          <p:cNvPr id="5" name="Graph reveal region 5" descr="preencoded.png"/>
          <p:cNvPicPr>
            <a:picLocks noChangeAspect="1"/>
          </p:cNvPicPr>
          <p:nvPr/>
        </p:nvPicPr>
        <p:blipFill>
          <a:blip r:embed="rId3"/>
          <a:srcRect r="74609"/>
          <a:stretch>
            <a:fillRect/>
          </a:stretch>
        </p:blipFill>
        <p:spPr>
          <a:xfrm>
            <a:off x="609585" y="2049859"/>
            <a:ext cx="1322057" cy="2795687"/>
          </a:xfrm>
          <a:prstGeom prst="rect">
            <a:avLst/>
          </a:prstGeom>
        </p:spPr>
      </p:pic>
      <p:pic>
        <p:nvPicPr>
          <p:cNvPr id="9" name="Graph reveal region 9" descr="preencoded.png"/>
          <p:cNvPicPr>
            <a:picLocks noChangeAspect="1"/>
          </p:cNvPicPr>
          <p:nvPr/>
        </p:nvPicPr>
        <p:blipFill>
          <a:blip r:embed="rId3"/>
          <a:srcRect l="25391" b="82545"/>
          <a:stretch>
            <a:fillRect/>
          </a:stretch>
        </p:blipFill>
        <p:spPr>
          <a:xfrm>
            <a:off x="1931642" y="2049859"/>
            <a:ext cx="3884813" cy="487974"/>
          </a:xfrm>
          <a:prstGeom prst="rect">
            <a:avLst/>
          </a:prstGeom>
        </p:spPr>
      </p:pic>
      <p:pic>
        <p:nvPicPr>
          <p:cNvPr id="10" name="Graph reveal region 10" descr="preencoded.png"/>
          <p:cNvPicPr>
            <a:picLocks noChangeAspect="1"/>
          </p:cNvPicPr>
          <p:nvPr/>
        </p:nvPicPr>
        <p:blipFill>
          <a:blip r:embed="rId3"/>
          <a:srcRect l="25391" t="17455" b="66182"/>
          <a:stretch>
            <a:fillRect/>
          </a:stretch>
        </p:blipFill>
        <p:spPr>
          <a:xfrm>
            <a:off x="1931642" y="2537833"/>
            <a:ext cx="3884813" cy="457477"/>
          </a:xfrm>
          <a:prstGeom prst="rect">
            <a:avLst/>
          </a:prstGeom>
        </p:spPr>
      </p:pic>
      <p:pic>
        <p:nvPicPr>
          <p:cNvPr id="11" name="Graph reveal region 11" descr="preencoded.png"/>
          <p:cNvPicPr>
            <a:picLocks noChangeAspect="1"/>
          </p:cNvPicPr>
          <p:nvPr/>
        </p:nvPicPr>
        <p:blipFill>
          <a:blip r:embed="rId3"/>
          <a:srcRect l="25391" t="33818" b="46182"/>
          <a:stretch>
            <a:fillRect/>
          </a:stretch>
        </p:blipFill>
        <p:spPr>
          <a:xfrm>
            <a:off x="1931642" y="2995310"/>
            <a:ext cx="3884813" cy="559137"/>
          </a:xfrm>
          <a:prstGeom prst="rect">
            <a:avLst/>
          </a:prstGeom>
        </p:spPr>
      </p:pic>
      <p:pic>
        <p:nvPicPr>
          <p:cNvPr id="12" name="Graph reveal region 12" descr="preencoded.png"/>
          <p:cNvPicPr>
            <a:picLocks noChangeAspect="1"/>
          </p:cNvPicPr>
          <p:nvPr/>
        </p:nvPicPr>
        <p:blipFill>
          <a:blip r:embed="rId3"/>
          <a:srcRect l="25391" t="53818" b="29818"/>
          <a:stretch>
            <a:fillRect/>
          </a:stretch>
        </p:blipFill>
        <p:spPr>
          <a:xfrm>
            <a:off x="1931642" y="3554447"/>
            <a:ext cx="3884813" cy="457476"/>
          </a:xfrm>
          <a:prstGeom prst="rect">
            <a:avLst/>
          </a:prstGeom>
        </p:spPr>
      </p:pic>
      <p:pic>
        <p:nvPicPr>
          <p:cNvPr id="13" name="Graph reveal region 13" descr="preencoded.png"/>
          <p:cNvPicPr>
            <a:picLocks noChangeAspect="1"/>
          </p:cNvPicPr>
          <p:nvPr/>
        </p:nvPicPr>
        <p:blipFill>
          <a:blip r:embed="rId3"/>
          <a:srcRect l="25391" t="70182"/>
          <a:stretch>
            <a:fillRect/>
          </a:stretch>
        </p:blipFill>
        <p:spPr>
          <a:xfrm>
            <a:off x="1931642" y="4011923"/>
            <a:ext cx="3884813" cy="8336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2050084"/>
            <a:ext cx="5456224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spcAft>
                <a:spcPts val="1200"/>
              </a:spcAft>
              <a:buNone/>
            </a:pPr>
            <a:r>
              <a:rPr lang="en-US" sz="1900" b="1">
                <a:solidFill>
                  <a:srgbClr val="26364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Tiling is 23.5% slower on average, and slower in all 5 runs (22% to 26% per run)</a:t>
            </a:r>
            <a:endParaRPr lang="en-US" sz="2000"/>
          </a:p>
          <a:p>
            <a:pPr marL="0" indent="0" algn="l">
              <a:lnSpc>
                <a:spcPct val="107000"/>
              </a:lnSpc>
              <a:spcAft>
                <a:spcPts val="1200"/>
              </a:spcAft>
              <a:buNone/>
            </a:pPr>
            <a:r>
              <a:rPr lang="en-US" sz="19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Likely reason: the T4's L1/L2 caches already serve most repeated neighbour reads</a:t>
            </a:r>
            <a:endParaRPr lang="en-US" sz="2000"/>
          </a:p>
          <a:p>
            <a:pPr marL="0" indent="0" algn="l">
              <a:lnSpc>
                <a:spcPct val="107000"/>
              </a:lnSpc>
              <a:spcAft>
                <a:spcPts val="1200"/>
              </a:spcAft>
              <a:buNone/>
            </a:pPr>
            <a:r>
              <a:rPr lang="en-US" sz="19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Halo loading (integer division and modulo), a synchronisation barrier, and extra shared-memory accesses add overhead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609585" y="5632529"/>
            <a:ext cx="10972526" cy="629841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Always measure an optimisation</a:t>
            </a:r>
            <a:endParaRPr lang="en-US" sz="2000"/>
          </a:p>
        </p:txBody>
      </p:sp>
      <p:sp>
        <p:nvSpPr>
          <p:cNvPr id="8" name="Text 5"/>
          <p:cNvSpPr/>
          <p:nvPr/>
        </p:nvSpPr>
        <p:spPr>
          <a:xfrm>
            <a:off x="11471782" y="6528296"/>
            <a:ext cx="71991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8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8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ded 2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09 · Why only 14% of peak bandwidth?</a:t>
            </a:r>
            <a:endParaRPr lang="en-US" sz="2900"/>
          </a:p>
        </p:txBody>
      </p:sp>
      <p:sp>
        <p:nvSpPr>
          <p:cNvPr id="3" name="Added 3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dded 4"/>
          <p:cNvSpPr/>
          <p:nvPr/>
        </p:nvSpPr>
        <p:spPr>
          <a:xfrm>
            <a:off x="11404315" y="6528296"/>
            <a:ext cx="787380" cy="227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1400"/>
          </a:p>
        </p:txBody>
      </p:sp>
      <p:sp>
        <p:nvSpPr>
          <p:cNvPr id="5" name="Added 5"/>
          <p:cNvSpPr/>
          <p:nvPr/>
        </p:nvSpPr>
        <p:spPr>
          <a:xfrm>
            <a:off x="609904" y="1691640"/>
            <a:ext cx="3456432" cy="2962656"/>
          </a:xfrm>
          <a:prstGeom prst="roundRect">
            <a:avLst>
              <a:gd name="adj" fmla="val 637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29360" y="193852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26364A"/>
                </a:solidFill>
                <a:latin typeface="Manrope Bold"/>
              </a:rPr>
              <a:t>≈ 839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360" y="2761488"/>
            <a:ext cx="3017520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>
                <a:solidFill>
                  <a:srgbClr val="26364A"/>
                </a:solidFill>
                <a:latin typeface="Manrope"/>
              </a:rPr>
              <a:t>moved over 100 generations</a:t>
            </a:r>
            <a:br/>
            <a:r>
              <a:rPr sz="1900" b="0">
                <a:solidFill>
                  <a:srgbClr val="26364A"/>
                </a:solidFill>
                <a:latin typeface="Manrope"/>
              </a:rPr>
              <a:t>(minimum: 1 read + 1 write of the 8.4 MB grid per generation)</a:t>
            </a:r>
          </a:p>
        </p:txBody>
      </p:sp>
      <p:sp>
        <p:nvSpPr>
          <p:cNvPr id="8" name="Added 8"/>
          <p:cNvSpPr/>
          <p:nvPr/>
        </p:nvSpPr>
        <p:spPr>
          <a:xfrm>
            <a:off x="4368088" y="1691640"/>
            <a:ext cx="3456432" cy="2962656"/>
          </a:xfrm>
          <a:prstGeom prst="roundRect">
            <a:avLst>
              <a:gd name="adj" fmla="val 637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87544" y="193852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26364A"/>
                </a:solidFill>
                <a:latin typeface="Manrope Bold"/>
              </a:rPr>
              <a:t>≈ 44 GB/s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544" y="2761488"/>
            <a:ext cx="3017520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>
                <a:solidFill>
                  <a:srgbClr val="26364A"/>
                </a:solidFill>
                <a:latin typeface="Manrope"/>
              </a:rPr>
              <a:t>effective on the naive kernel</a:t>
            </a:r>
            <a:br/>
            <a:r>
              <a:rPr sz="1900" b="0">
                <a:solidFill>
                  <a:srgbClr val="26364A"/>
                </a:solidFill>
                <a:latin typeface="Manrope"/>
              </a:rPr>
              <a:t>(46 GB/s in the fastest run)</a:t>
            </a:r>
          </a:p>
        </p:txBody>
      </p:sp>
      <p:sp>
        <p:nvSpPr>
          <p:cNvPr id="11" name="Added 11"/>
          <p:cNvSpPr/>
          <p:nvPr/>
        </p:nvSpPr>
        <p:spPr>
          <a:xfrm>
            <a:off x="8126272" y="1691640"/>
            <a:ext cx="3456432" cy="2962656"/>
          </a:xfrm>
          <a:prstGeom prst="roundRect">
            <a:avLst>
              <a:gd name="adj" fmla="val 637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345728" y="1938528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26364A"/>
                </a:solidFill>
                <a:latin typeface="Manrope Bold"/>
              </a:rPr>
              <a:t>≈ 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5728" y="2761488"/>
            <a:ext cx="3017520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>
                <a:solidFill>
                  <a:srgbClr val="26364A"/>
                </a:solidFill>
                <a:latin typeface="Manrope"/>
              </a:rPr>
              <a:t>of the T4’s ≈ 320 GB/s peak</a:t>
            </a:r>
            <a:br/>
            <a:r>
              <a:rPr sz="1900" b="0">
                <a:solidFill>
                  <a:srgbClr val="26364A"/>
                </a:solidFill>
                <a:latin typeface="Manrope"/>
              </a:rPr>
              <a:t>(manufacturer figure)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50749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>
                <a:solidFill>
                  <a:srgbClr val="26364A"/>
                </a:solidFill>
                <a:latin typeface="Manrope"/>
              </a:rPr>
              <a:t>Not memory-bandwidth bound. Each thread does 9 one-byte loads, a store and index arithmetic, so instructions per cell are the likelier limit. This is why bit-packing is the next step.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ded 2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 · CPU vs GPU: technical comparison</a:t>
            </a:r>
            <a:endParaRPr lang="en-US" sz="2900"/>
          </a:p>
        </p:txBody>
      </p:sp>
      <p:sp>
        <p:nvSpPr>
          <p:cNvPr id="3" name="Added 3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Added 4"/>
          <p:cNvSpPr/>
          <p:nvPr/>
        </p:nvSpPr>
        <p:spPr>
          <a:xfrm>
            <a:off x="11404315" y="6528296"/>
            <a:ext cx="787380" cy="227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1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554480"/>
          <a:ext cx="10972800" cy="4975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Manrope"/>
                        </a:rPr>
                        <a:t>CPU</a:t>
                      </a:r>
                    </a:p>
                  </a:txBody>
                  <a:tcPr marL="146304" marR="146304" marT="36576" marB="36576" anchor="ctr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Manrope"/>
                        </a:rPr>
                        <a:t>GPU</a:t>
                      </a:r>
                    </a:p>
                  </a:txBody>
                  <a:tcPr marL="146304" marR="146304" marT="36576" marB="36576" anchor="ctr"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Execution model: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Sequential, one thread, nested loops</a:t>
                      </a:r>
                    </a:p>
                  </a:txBody>
                  <a:tcPr marL="146304" marR="146304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Execution model: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Data-parallel SIMT, one thread per cell</a:t>
                      </a:r>
                    </a:p>
                  </a:txBody>
                  <a:tcPr marL="146304" marR="146304" marT="36576" marB="36576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Parallelism: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None</a:t>
                      </a:r>
                    </a:p>
                  </a:txBody>
                  <a:tcPr marL="146304" marR="146304" marT="36576" marB="36576" anchor="ctr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Parallelism: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4,194,304 threads in 16,384 blocks, warps of 32</a:t>
                      </a:r>
                    </a:p>
                  </a:txBody>
                  <a:tcPr marL="146304" marR="146304" marT="36576" marB="36576" anchor="ctr">
                    <a:solidFill>
                      <a:srgbClr val="EA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08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Memory: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Registers + L1/L2/L3 caches, automatic</a:t>
                      </a:r>
                    </a:p>
                  </a:txBody>
                  <a:tcPr marL="146304" marR="146304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Memory: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Registers, programmer-managed shared memory, L1/L2, global memory</a:t>
                      </a:r>
                    </a:p>
                  </a:txBody>
                  <a:tcPr marL="146304" marR="146304" marT="36576" marB="36576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Data layout: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2D array cur[r][c]</a:t>
                      </a:r>
                    </a:p>
                  </a:txBody>
                  <a:tcPr marL="146304" marR="146304" marT="36576" marB="36576" anchor="ctr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Data layout: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Flat 1D array in[r*N + c]</a:t>
                      </a:r>
                    </a:p>
                  </a:txBody>
                  <a:tcPr marL="146304" marR="146304" marT="36576" marB="36576" anchor="ctr">
                    <a:solidFill>
                      <a:srgbClr val="EA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Memory access: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Sequential along rows, prefetcher helps</a:t>
                      </a:r>
                    </a:p>
                  </a:txBody>
                  <a:tcPr marL="146304" marR="146304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Memory access: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Coalesced across a warp</a:t>
                      </a:r>
                    </a:p>
                  </a:txBody>
                  <a:tcPr marL="146304" marR="146304" marT="36576" marB="36576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Synchronisation: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None needed</a:t>
                      </a:r>
                    </a:p>
                  </a:txBody>
                  <a:tcPr marL="146304" marR="146304" marT="36576" marB="36576" anchor="ctr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Synchronisation: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Block barrier in tiled kernel; kernel launch between generations</a:t>
                      </a:r>
                    </a:p>
                  </a:txBody>
                  <a:tcPr marL="146304" marR="146304" marT="36576" marB="36576" anchor="ctr">
                    <a:solidFill>
                      <a:srgbClr val="EA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Data movement: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None</a:t>
                      </a:r>
                    </a:p>
                  </a:txBody>
                  <a:tcPr marL="146304" marR="146304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Data movement: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One copy in, one copy out, buffers swapped on device</a:t>
                      </a:r>
                    </a:p>
                  </a:txBody>
                  <a:tcPr marL="146304" marR="146304" marT="36576" marB="36576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Development effort: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Low, easy to debug</a:t>
                      </a:r>
                    </a:p>
                  </a:txBody>
                  <a:tcPr marL="146304" marR="146304" marT="36576" marB="36576" anchor="ctr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Development effort: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Higher: kernels, memory management, error checks</a:t>
                      </a:r>
                    </a:p>
                  </a:txBody>
                  <a:tcPr marL="146304" marR="146304" marT="36576" marB="36576" anchor="ctr">
                    <a:solidFill>
                      <a:srgbClr val="EA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Portability: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Any CPU + C compiler</a:t>
                      </a:r>
                    </a:p>
                  </a:txBody>
                  <a:tcPr marL="146304" marR="146304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6364A"/>
                          </a:solidFill>
                          <a:latin typeface="Manrope"/>
                        </a:rPr>
                        <a:t>Portability: </a:t>
                      </a:r>
                      <a:r>
                        <a:rPr sz="1450">
                          <a:solidFill>
                            <a:srgbClr val="26364A"/>
                          </a:solidFill>
                          <a:latin typeface="Manrope"/>
                        </a:rPr>
                        <a:t>Needs NVIDIA GPU + CUDA toolkit</a:t>
                      </a:r>
                    </a:p>
                  </a:txBody>
                  <a:tcPr marL="146304" marR="146304" marT="36576" marB="36576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8521"/>
            <a:ext cx="10972526" cy="39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>
                <a:solidFill>
                  <a:srgbClr val="0B1B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11 · Conclusion &amp; next steps</a:t>
            </a:r>
            <a:endParaRPr lang="en-US" sz="290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904" y="1585569"/>
            <a:ext cx="6309360" cy="4343400"/>
          </a:xfrm>
          <a:prstGeom prst="roundRect">
            <a:avLst>
              <a:gd name="adj" fmla="val 306"/>
            </a:avLst>
          </a:prstGeom>
          <a:solidFill>
            <a:srgbClr val="D0FB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504" y="1828800"/>
            <a:ext cx="585216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Thread-per-cell parallelism, coalesced reads and device-resident data explain the gain</a:t>
            </a:r>
            <a:endParaRPr lang="en-US" sz="2000"/>
          </a:p>
          <a:p>
            <a:pPr marL="406400" indent="-4064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Naive kernel reaches only about 14% of peak bandwidth, so the next gains are likely to come from fewer instructions per cell</a:t>
            </a:r>
            <a:endParaRPr lang="en-US" sz="2000"/>
          </a:p>
          <a:p>
            <a:pPr marL="406400" indent="-4064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Naive CUDA: about 100× kernel speedup and 80× end to end</a:t>
            </a:r>
            <a:endParaRPr lang="en-US" sz="2000"/>
          </a:p>
          <a:p>
            <a:pPr marL="406400" indent="-4064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Shared-memory tiling did not help on this T4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7375936" y="2644656"/>
            <a:ext cx="420617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Limits: single-threaded CPU baseline; one Kaggle session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7375936" y="3434755"/>
            <a:ext cx="4206075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75936" y="3634462"/>
            <a:ext cx="420617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Next: bit-packing, multi-threaded CPU baseline, larger grids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609585" y="5481657"/>
            <a:ext cx="10972526" cy="792460"/>
          </a:xfrm>
          <a:prstGeom prst="rect">
            <a:avLst/>
          </a:prstGeom>
          <a:noFill/>
          <a:ln/>
        </p:spPr>
        <p:txBody>
          <a:bodyPr wrap="square" lIns="152396" tIns="152396" rIns="152396" bIns="152396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11404315" y="6528296"/>
            <a:ext cx="787380" cy="227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1039</Words>
  <Application>Microsoft Office PowerPoint</Application>
  <PresentationFormat>Widescreen</PresentationFormat>
  <Paragraphs>151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Manrope SemiBold</vt:lpstr>
      <vt:lpstr>Consolas</vt:lpstr>
      <vt:lpstr>Manrope</vt:lpstr>
      <vt:lpstr>Space Grotesk Bold</vt:lpstr>
      <vt:lpstr>Manrope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NISAL SANJAYA</cp:lastModifiedBy>
  <cp:revision>1</cp:revision>
  <dcterms:created xsi:type="dcterms:W3CDTF">2026-10-11T22:05:27Z</dcterms:created>
  <dcterms:modified xsi:type="dcterms:W3CDTF">2026-10-12T17:13:37Z</dcterms:modified>
</cp:coreProperties>
</file>